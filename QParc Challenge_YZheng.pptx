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8" r:id="rId3"/>
    <p:sldId id="259" r:id="rId4"/>
    <p:sldId id="265" r:id="rId5"/>
    <p:sldId id="266" r:id="rId6"/>
    <p:sldId id="267" r:id="rId7"/>
    <p:sldId id="260" r:id="rId8"/>
    <p:sldId id="261" r:id="rId9"/>
    <p:sldId id="270" r:id="rId10"/>
    <p:sldId id="262" r:id="rId11"/>
    <p:sldId id="268" r:id="rId12"/>
    <p:sldId id="273" r:id="rId13"/>
    <p:sldId id="272" r:id="rId14"/>
    <p:sldId id="275" r:id="rId15"/>
    <p:sldId id="271" r:id="rId16"/>
    <p:sldId id="269" r:id="rId17"/>
    <p:sldId id="274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Raleway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8b49896ae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8b49896ae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d922d5e8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2d922d5e8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c7f8dcf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c7f8dcf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8b49896ae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8b49896ae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8b49896ae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8b49896ae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005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8b49896ae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8b49896ae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8b49896ae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8b49896ae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109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c7f8dcf5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c7f8dcf5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08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dirty="0"/>
              <a:t>Improving VQE accuracy </a:t>
            </a:r>
            <a:r>
              <a:rPr lang="en-US" sz="3800" dirty="0"/>
              <a:t>for</a:t>
            </a:r>
            <a:r>
              <a:rPr lang="zh-CN" altLang="en-US" sz="3800" dirty="0"/>
              <a:t> </a:t>
            </a:r>
            <a:r>
              <a:rPr lang="en-US" altLang="zh-CN" sz="3800" dirty="0"/>
              <a:t>H4</a:t>
            </a:r>
            <a:r>
              <a:rPr lang="zh-CN" altLang="en-US" sz="3800" dirty="0"/>
              <a:t> </a:t>
            </a:r>
            <a:r>
              <a:rPr lang="en-US" altLang="zh-CN" sz="3800" dirty="0"/>
              <a:t>molecule</a:t>
            </a:r>
            <a:r>
              <a:rPr lang="en-GB" sz="3800" dirty="0"/>
              <a:t> with shot limits</a:t>
            </a:r>
            <a:endParaRPr sz="38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Yunzhe Zheng </a:t>
            </a: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075" y="4144875"/>
            <a:ext cx="1383501" cy="7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141" y="4083749"/>
            <a:ext cx="1802758" cy="8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2832C2-8E51-EAB3-C8E1-4146D8C62163}"/>
              </a:ext>
            </a:extLst>
          </p:cNvPr>
          <p:cNvSpPr txBox="1"/>
          <p:nvPr/>
        </p:nvSpPr>
        <p:spPr>
          <a:xfrm>
            <a:off x="0" y="71611"/>
            <a:ext cx="2927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Quantum Information Challenge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Ansatz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Google Shape;101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9450" y="1321199"/>
                <a:ext cx="7688700" cy="387760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dirty="0"/>
                  <a:t>D</a:t>
                </a:r>
                <a:r>
                  <a:rPr lang="en-GB" sz="1800" dirty="0"/>
                  <a:t>efault: Hardware-efficient ansatz    </a:t>
                </a:r>
                <a:r>
                  <a:rPr lang="en-GB" sz="1800" b="1" i="1" dirty="0"/>
                  <a:t>Not goo</a:t>
                </a:r>
                <a:r>
                  <a:rPr lang="en-GB" b="1" i="1" dirty="0"/>
                  <a:t>d!</a:t>
                </a:r>
                <a:endParaRPr lang="en-GB" sz="1800" b="1" i="1" dirty="0"/>
              </a:p>
              <a:p>
                <a:pPr marL="457200" lvl="0" indent="-342900" algn="l" rtl="0">
                  <a:spcBef>
                    <a:spcPts val="120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GB" dirty="0"/>
                  <a:t>Barren </a:t>
                </a:r>
                <a:r>
                  <a:rPr lang="en-GB" dirty="0" err="1"/>
                  <a:t>Plataeu</a:t>
                </a:r>
                <a:endParaRPr lang="en-GB" dirty="0"/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GB" dirty="0"/>
                  <a:t>Inefficient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GB" sz="1800" b="1" dirty="0"/>
                  <a:t>Unitary Coupled Cluster(UCC) Ansat</a:t>
                </a:r>
                <a:r>
                  <a:rPr lang="en-GB" b="1" dirty="0"/>
                  <a:t>z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GB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GB" dirty="0"/>
                  <a:t>T sums over all excitation: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GB" dirty="0"/>
                  <a:t>Single excitation: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lvl="0" indent="0">
                  <a:spcBef>
                    <a:spcPts val="1200"/>
                  </a:spcBef>
                  <a:buNone/>
                </a:pPr>
                <a:r>
                  <a:rPr lang="en-GB" dirty="0"/>
                  <a:t>Double excitation: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𝑝𝑞𝑟𝑠</m:t>
                        </m:r>
                      </m:sub>
                    </m:sSub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01" name="Google Shape;101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9450" y="1321199"/>
                <a:ext cx="7688700" cy="3877607"/>
              </a:xfrm>
              <a:prstGeom prst="rect">
                <a:avLst/>
              </a:prstGeom>
              <a:blipFill>
                <a:blip r:embed="rId3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21F68-7002-5630-C871-FEB72EADC0D1}"/>
                  </a:ext>
                </a:extLst>
              </p:cNvPr>
              <p:cNvSpPr txBox="1"/>
              <p:nvPr/>
            </p:nvSpPr>
            <p:spPr>
              <a:xfrm>
                <a:off x="3728444" y="3646904"/>
                <a:ext cx="15033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21F68-7002-5630-C871-FEB72EADC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444" y="3646904"/>
                <a:ext cx="1503360" cy="246221"/>
              </a:xfrm>
              <a:prstGeom prst="rect">
                <a:avLst/>
              </a:prstGeom>
              <a:blipFill>
                <a:blip r:embed="rId4"/>
                <a:stretch>
                  <a:fillRect l="-2439"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2BDE33-FF7E-1030-6C8A-4B6FBF1475F7}"/>
                  </a:ext>
                </a:extLst>
              </p:cNvPr>
              <p:cNvSpPr txBox="1"/>
              <p:nvPr/>
            </p:nvSpPr>
            <p:spPr>
              <a:xfrm>
                <a:off x="3088781" y="3163132"/>
                <a:ext cx="2143023" cy="243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2BDE33-FF7E-1030-6C8A-4B6FBF147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781" y="3163132"/>
                <a:ext cx="2143023" cy="243143"/>
              </a:xfrm>
              <a:prstGeom prst="rect">
                <a:avLst/>
              </a:prstGeom>
              <a:blipFill>
                <a:blip r:embed="rId5"/>
                <a:stretch>
                  <a:fillRect l="-1140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391D3-BF67-1F39-61E5-565ABCBF8CC9}"/>
                  </a:ext>
                </a:extLst>
              </p:cNvPr>
              <p:cNvSpPr txBox="1"/>
              <p:nvPr/>
            </p:nvSpPr>
            <p:spPr>
              <a:xfrm>
                <a:off x="5375787" y="3616125"/>
                <a:ext cx="37682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Practically,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is enough in our case.</a:t>
                </a:r>
                <a:endParaRPr lang="zh-CN" altLang="en-US" dirty="0">
                  <a:latin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C391D3-BF67-1F39-61E5-565ABCBF8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787" y="3616125"/>
                <a:ext cx="3768213" cy="307777"/>
              </a:xfrm>
              <a:prstGeom prst="rect">
                <a:avLst/>
              </a:prstGeom>
              <a:blipFill>
                <a:blip r:embed="rId6"/>
                <a:stretch>
                  <a:fillRect l="-485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9B44DE-408C-10CC-ADC5-41BAC68FFB23}"/>
              </a:ext>
            </a:extLst>
          </p:cNvPr>
          <p:cNvSpPr txBox="1"/>
          <p:nvPr/>
        </p:nvSpPr>
        <p:spPr>
          <a:xfrm>
            <a:off x="4845440" y="4121171"/>
            <a:ext cx="356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p: occupied orbital. r: unoccupied orbital.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842AB-F318-291A-3443-B6E29076DA4A}"/>
              </a:ext>
            </a:extLst>
          </p:cNvPr>
          <p:cNvSpPr txBox="1"/>
          <p:nvPr/>
        </p:nvSpPr>
        <p:spPr>
          <a:xfrm>
            <a:off x="4845440" y="4591299"/>
            <a:ext cx="4925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 &amp; q: occupied orbital. r &amp; s: unoccupied orbital.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UCCSD Ansatz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Google Shape;108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9450" y="1321200"/>
                <a:ext cx="7688700" cy="30189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How to express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sz="1800" dirty="0"/>
                  <a:t> in circuit ansatz form? – </a:t>
                </a:r>
                <a:r>
                  <a:rPr lang="en-US" sz="1800" b="1" dirty="0" err="1"/>
                  <a:t>Trotterization</a:t>
                </a:r>
                <a:endParaRPr lang="en-US" sz="1800" b="1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1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800" dirty="0"/>
                  <a:t>Take n=1(A rough but practical choice)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Jordan-Wigner Transform:</a:t>
                </a:r>
                <a:endParaRPr sz="1800" dirty="0"/>
              </a:p>
            </p:txBody>
          </p:sp>
        </mc:Choice>
        <mc:Fallback>
          <p:sp>
            <p:nvSpPr>
              <p:cNvPr id="108" name="Google Shape;108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9450" y="1321200"/>
                <a:ext cx="7688700" cy="3018900"/>
              </a:xfrm>
              <a:prstGeom prst="rect">
                <a:avLst/>
              </a:prstGeom>
              <a:blipFill>
                <a:blip r:embed="rId3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39CFE-8966-F915-2DAF-F8601D6FCE96}"/>
                  </a:ext>
                </a:extLst>
              </p:cNvPr>
              <p:cNvSpPr txBox="1"/>
              <p:nvPr/>
            </p:nvSpPr>
            <p:spPr>
              <a:xfrm>
                <a:off x="1666998" y="1734270"/>
                <a:ext cx="6747552" cy="2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.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1/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sSup>
                                        <m:s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.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.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1/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39CFE-8966-F915-2DAF-F8601D6F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98" y="1734270"/>
                <a:ext cx="6747552" cy="268150"/>
              </a:xfrm>
              <a:prstGeom prst="rect">
                <a:avLst/>
              </a:prstGeom>
              <a:blipFill>
                <a:blip r:embed="rId4"/>
                <a:stretch>
                  <a:fillRect l="-361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3BC724-1EC8-36FA-8518-00D993F0D0DC}"/>
                  </a:ext>
                </a:extLst>
              </p:cNvPr>
              <p:cNvSpPr txBox="1"/>
              <p:nvPr/>
            </p:nvSpPr>
            <p:spPr>
              <a:xfrm>
                <a:off x="1861475" y="2375374"/>
                <a:ext cx="5350486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∗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3BC724-1EC8-36FA-8518-00D993F0D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75" y="2375374"/>
                <a:ext cx="5350486" cy="335476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04F6A2-C441-B405-8111-8FA4834615C4}"/>
                  </a:ext>
                </a:extLst>
              </p:cNvPr>
              <p:cNvSpPr txBox="1"/>
              <p:nvPr/>
            </p:nvSpPr>
            <p:spPr>
              <a:xfrm>
                <a:off x="2250718" y="3321130"/>
                <a:ext cx="457200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𝑝𝑟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04F6A2-C441-B405-8111-8FA483461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718" y="3321130"/>
                <a:ext cx="4572000" cy="576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8E79A7-BDEE-328B-E56F-5052D3CB92A2}"/>
                  </a:ext>
                </a:extLst>
              </p:cNvPr>
              <p:cNvSpPr txBox="1"/>
              <p:nvPr/>
            </p:nvSpPr>
            <p:spPr>
              <a:xfrm>
                <a:off x="2754774" y="746754"/>
                <a:ext cx="4572000" cy="324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8E79A7-BDEE-328B-E56F-5052D3CB9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774" y="746754"/>
                <a:ext cx="4572000" cy="324384"/>
              </a:xfrm>
              <a:prstGeom prst="rect">
                <a:avLst/>
              </a:prstGeom>
              <a:blipFill>
                <a:blip r:embed="rId7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BE6DBF-4335-BF76-5A29-097C3C197651}"/>
                  </a:ext>
                </a:extLst>
              </p:cNvPr>
              <p:cNvSpPr txBox="1"/>
              <p:nvPr/>
            </p:nvSpPr>
            <p:spPr>
              <a:xfrm>
                <a:off x="-77935" y="4036376"/>
                <a:ext cx="9598020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𝑝𝑞𝑟𝑠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𝑝𝑞𝑟𝑠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BE6DBF-4335-BF76-5A29-097C3C19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935" y="4036376"/>
                <a:ext cx="9598020" cy="6491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EFDDC2-A952-A51A-D31F-D5ECC4C9469C}"/>
                  </a:ext>
                </a:extLst>
              </p:cNvPr>
              <p:cNvSpPr txBox="1"/>
              <p:nvPr/>
            </p:nvSpPr>
            <p:spPr>
              <a:xfrm>
                <a:off x="6297562" y="741208"/>
                <a:ext cx="2344994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𝑝𝑞𝑟𝑠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EFDDC2-A952-A51A-D31F-D5ECC4C94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562" y="741208"/>
                <a:ext cx="2344994" cy="3354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7440D-807D-E7A5-27CA-BC12E6F9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64" y="1587513"/>
            <a:ext cx="6113206" cy="24862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AA3BC0-CB36-DE2E-C9A1-2F8D8E98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Single Excitation circuit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059F4-51BC-2E80-422A-0B8AAB58B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Repeat Twice for each excitation gate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4AACA-BEFC-7C49-A5F5-9659ECAAB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042" y="4368977"/>
            <a:ext cx="4316054" cy="4748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7B557-0B6C-2155-9D22-D8222A58E4EB}"/>
              </a:ext>
            </a:extLst>
          </p:cNvPr>
          <p:cNvSpPr txBox="1"/>
          <p:nvPr/>
        </p:nvSpPr>
        <p:spPr>
          <a:xfrm>
            <a:off x="7473903" y="4857846"/>
            <a:ext cx="237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Figure: </a:t>
            </a:r>
            <a:r>
              <a:rPr lang="en-US" altLang="zh-CN" dirty="0" err="1"/>
              <a:t>Pennylane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05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DB26-98ED-2095-F41A-8618C775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Double Excitation circuit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1E787-C4B7-7114-46D5-CF8CCD819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037" y="1321200"/>
            <a:ext cx="7688700" cy="3018900"/>
          </a:xfrm>
        </p:spPr>
        <p:txBody>
          <a:bodyPr/>
          <a:lstStyle/>
          <a:p>
            <a:r>
              <a:rPr lang="en-US" altLang="zh-CN" dirty="0"/>
              <a:t>Repeat eight times for each excitation gate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E6B90-3C56-9C00-1D28-98059608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67" y="1989664"/>
            <a:ext cx="5090013" cy="2692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74EC4-40CE-E1B9-2451-DE1111AB4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780" y="2109020"/>
            <a:ext cx="3360115" cy="1170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5C3DF4-4B35-230F-4CF7-BA9F7350A567}"/>
              </a:ext>
            </a:extLst>
          </p:cNvPr>
          <p:cNvSpPr txBox="1"/>
          <p:nvPr/>
        </p:nvSpPr>
        <p:spPr>
          <a:xfrm>
            <a:off x="7473903" y="4857846"/>
            <a:ext cx="237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Figure: </a:t>
            </a:r>
            <a:r>
              <a:rPr lang="en-US" altLang="zh-CN" dirty="0" err="1"/>
              <a:t>Pennylane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34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D0EC-0A50-215D-4763-EEEA6CFE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Orbitals for H4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5E087-D6E2-D8D0-BAE8-ACFC83750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218" y="1314017"/>
            <a:ext cx="7688700" cy="2638148"/>
          </a:xfrm>
        </p:spPr>
        <p:txBody>
          <a:bodyPr>
            <a:normAutofit/>
          </a:bodyPr>
          <a:lstStyle/>
          <a:p>
            <a:r>
              <a:rPr lang="en-US" altLang="zh-CN" dirty="0"/>
              <a:t>Single Excitation: </a:t>
            </a:r>
          </a:p>
          <a:p>
            <a:pPr marL="584200" lvl="1" indent="0">
              <a:buNone/>
            </a:pPr>
            <a:r>
              <a:rPr lang="en-US" altLang="zh-CN" dirty="0"/>
              <a:t>- [0, 4] [0, 6] [2, 4] [2, 6] [1, 5] [1, 7] [3, 5] [3, 7]</a:t>
            </a:r>
          </a:p>
          <a:p>
            <a:pPr marL="584200" lvl="1" indent="0">
              <a:buNone/>
            </a:pPr>
            <a:r>
              <a:rPr lang="en-US" altLang="zh-CN" dirty="0"/>
              <a:t>- 8 unique excitation</a:t>
            </a:r>
          </a:p>
          <a:p>
            <a:r>
              <a:rPr lang="en-US" altLang="zh-CN" dirty="0"/>
              <a:t>Double:  - 16 unique excitation</a:t>
            </a:r>
          </a:p>
          <a:p>
            <a:r>
              <a:rPr lang="en-US" altLang="zh-CN" dirty="0"/>
              <a:t>Can be got from </a:t>
            </a:r>
            <a:r>
              <a:rPr lang="en-US" altLang="zh-CN" dirty="0" err="1"/>
              <a:t>pennylane.qchem.excitations</a:t>
            </a:r>
            <a:endParaRPr lang="zh-CN" alt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117A00-711B-CE84-393C-FCFD2B511F2E}"/>
              </a:ext>
            </a:extLst>
          </p:cNvPr>
          <p:cNvGrpSpPr/>
          <p:nvPr/>
        </p:nvGrpSpPr>
        <p:grpSpPr>
          <a:xfrm>
            <a:off x="6489292" y="3293008"/>
            <a:ext cx="2531803" cy="1748483"/>
            <a:chOff x="5390537" y="2378609"/>
            <a:chExt cx="2531803" cy="174848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9C6F3B-CB72-769E-6BB8-81E8E87C9AB7}"/>
                </a:ext>
              </a:extLst>
            </p:cNvPr>
            <p:cNvCxnSpPr/>
            <p:nvPr/>
          </p:nvCxnSpPr>
          <p:spPr>
            <a:xfrm>
              <a:off x="5729748" y="3982065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0A966A-5F3A-0CD9-31AB-3F90BC01821E}"/>
                </a:ext>
              </a:extLst>
            </p:cNvPr>
            <p:cNvCxnSpPr/>
            <p:nvPr/>
          </p:nvCxnSpPr>
          <p:spPr>
            <a:xfrm>
              <a:off x="6752303" y="3982065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F7BA3E-57CD-8AD6-4925-1F9ED6793BCB}"/>
                </a:ext>
              </a:extLst>
            </p:cNvPr>
            <p:cNvCxnSpPr/>
            <p:nvPr/>
          </p:nvCxnSpPr>
          <p:spPr>
            <a:xfrm>
              <a:off x="5729748" y="3714136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A9C418-3B93-1001-33CB-77183A35C787}"/>
                </a:ext>
              </a:extLst>
            </p:cNvPr>
            <p:cNvCxnSpPr/>
            <p:nvPr/>
          </p:nvCxnSpPr>
          <p:spPr>
            <a:xfrm>
              <a:off x="6752303" y="3714136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0114AC0-44E5-A95C-8580-E79BA87248FF}"/>
                </a:ext>
              </a:extLst>
            </p:cNvPr>
            <p:cNvCxnSpPr/>
            <p:nvPr/>
          </p:nvCxnSpPr>
          <p:spPr>
            <a:xfrm>
              <a:off x="5729748" y="3165988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C7ACEB3-EAFD-618B-98F4-C7982DF5D48A}"/>
                </a:ext>
              </a:extLst>
            </p:cNvPr>
            <p:cNvCxnSpPr/>
            <p:nvPr/>
          </p:nvCxnSpPr>
          <p:spPr>
            <a:xfrm>
              <a:off x="6752303" y="3165988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954C1EE-321C-B9EA-95D8-2694044DC248}"/>
                </a:ext>
              </a:extLst>
            </p:cNvPr>
            <p:cNvCxnSpPr/>
            <p:nvPr/>
          </p:nvCxnSpPr>
          <p:spPr>
            <a:xfrm>
              <a:off x="5729748" y="2851969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A0339F-04E9-5D84-2EFF-7DF966C75908}"/>
                </a:ext>
              </a:extLst>
            </p:cNvPr>
            <p:cNvCxnSpPr/>
            <p:nvPr/>
          </p:nvCxnSpPr>
          <p:spPr>
            <a:xfrm>
              <a:off x="6752303" y="2851969"/>
              <a:ext cx="70054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C67EEDB-8C42-5B9A-526F-F56763E8E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6335" y="3510116"/>
              <a:ext cx="0" cy="29005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6A92612-A28E-6061-2BF9-8F48B38875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6335" y="3837038"/>
              <a:ext cx="0" cy="29005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D23FA0B-5A81-F644-B6A3-7BD7941908A7}"/>
                </a:ext>
              </a:extLst>
            </p:cNvPr>
            <p:cNvCxnSpPr>
              <a:cxnSpLocks/>
            </p:cNvCxnSpPr>
            <p:nvPr/>
          </p:nvCxnSpPr>
          <p:spPr>
            <a:xfrm>
              <a:off x="7113639" y="3585913"/>
              <a:ext cx="0" cy="256446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9D91E40-DDDE-527D-D5EC-BB913AACED9A}"/>
                </a:ext>
              </a:extLst>
            </p:cNvPr>
            <p:cNvCxnSpPr>
              <a:cxnSpLocks/>
            </p:cNvCxnSpPr>
            <p:nvPr/>
          </p:nvCxnSpPr>
          <p:spPr>
            <a:xfrm>
              <a:off x="7113639" y="3870646"/>
              <a:ext cx="0" cy="256446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88282F-5AC0-7C03-B724-30DB2FC78E44}"/>
                </a:ext>
              </a:extLst>
            </p:cNvPr>
            <p:cNvSpPr txBox="1"/>
            <p:nvPr/>
          </p:nvSpPr>
          <p:spPr>
            <a:xfrm>
              <a:off x="7590504" y="2742096"/>
              <a:ext cx="33183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</a:p>
            <a:p>
              <a:r>
                <a:rPr lang="en-US" altLang="zh-CN" dirty="0"/>
                <a:t>5</a:t>
              </a:r>
            </a:p>
            <a:p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91FDC8-8411-434B-A58C-F32C91140A73}"/>
                </a:ext>
              </a:extLst>
            </p:cNvPr>
            <p:cNvSpPr txBox="1"/>
            <p:nvPr/>
          </p:nvSpPr>
          <p:spPr>
            <a:xfrm>
              <a:off x="5390537" y="2742097"/>
              <a:ext cx="33183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</a:p>
            <a:p>
              <a:r>
                <a:rPr lang="en-US" altLang="zh-CN" dirty="0"/>
                <a:t>4</a:t>
              </a:r>
            </a:p>
            <a:p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2</a:t>
              </a:r>
            </a:p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61BE1B-585C-EF56-EFCB-BF98C4E57EB5}"/>
                </a:ext>
              </a:extLst>
            </p:cNvPr>
            <p:cNvSpPr txBox="1"/>
            <p:nvPr/>
          </p:nvSpPr>
          <p:spPr>
            <a:xfrm>
              <a:off x="6849397" y="2378609"/>
              <a:ext cx="9070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β-spin</a:t>
              </a:r>
              <a:endParaRPr lang="zh-CN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093F7F-CCC3-E0EA-39D9-C1F2582E926F}"/>
                </a:ext>
              </a:extLst>
            </p:cNvPr>
            <p:cNvSpPr txBox="1"/>
            <p:nvPr/>
          </p:nvSpPr>
          <p:spPr>
            <a:xfrm>
              <a:off x="5745726" y="2399725"/>
              <a:ext cx="9070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α-spin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984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Other Try </a:t>
            </a:r>
            <a:endParaRPr dirty="0"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k-Unitary paired-Generalized Coupled Cluster Ansatz (k-</a:t>
            </a:r>
            <a:r>
              <a:rPr lang="en-GB" dirty="0" err="1"/>
              <a:t>UpCCGSD</a:t>
            </a:r>
            <a:r>
              <a:rPr lang="en-GB" dirty="0"/>
              <a:t>) 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 dirty="0"/>
              <a:t>“Generalized”: consider all orbital combinations. Not distinguish occupied or unoccupied orbitals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“Paired”: only consider paired double excitation: both electrons in the same spatial orbital moved to another spatial orbital.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k=2</a:t>
            </a:r>
            <a:r>
              <a:rPr lang="en-US" dirty="0"/>
              <a:t>(36 parameters)</a:t>
            </a:r>
            <a:r>
              <a:rPr lang="en-GB" dirty="0"/>
              <a:t> is sufficient for H4 to reach chemical accuracy*.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E51ED-03B5-9B58-F191-0DDE8C35E8C7}"/>
              </a:ext>
            </a:extLst>
          </p:cNvPr>
          <p:cNvSpPr txBox="1"/>
          <p:nvPr/>
        </p:nvSpPr>
        <p:spPr>
          <a:xfrm>
            <a:off x="6415548" y="4835723"/>
            <a:ext cx="2868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https://arxiv.org/abs/2103.08505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Measurement optimization: Operator Grouping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Google Shape;120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9449" y="1321200"/>
                <a:ext cx="8222821" cy="30189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US" dirty="0"/>
                  <a:t>Some observables can be measured at the same sampling circuit</a:t>
                </a:r>
              </a:p>
              <a:p>
                <a:pPr lvl="1" indent="-342900">
                  <a:buSzPts val="1800"/>
                  <a:buChar char="-"/>
                </a:pPr>
                <a:r>
                  <a:rPr lang="en-US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can be measured at the same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.(joint operator) </a:t>
                </a:r>
              </a:p>
              <a:p>
                <a:pPr lvl="1" indent="-342900">
                  <a:buSzPts val="1800"/>
                  <a:buChar char="-"/>
                </a:pPr>
                <a:r>
                  <a:rPr lang="en-US" dirty="0"/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be measured at the same time(Sub operator)</a:t>
                </a:r>
              </a:p>
              <a:p>
                <a:pPr lvl="1" indent="-342900">
                  <a:buSzPts val="1800"/>
                  <a:buChar char="-"/>
                </a:pPr>
                <a:endParaRPr lang="en-US" dirty="0"/>
              </a:p>
              <a:p>
                <a:pPr>
                  <a:buChar char="-"/>
                </a:pPr>
                <a:r>
                  <a:rPr lang="en-US" dirty="0"/>
                  <a:t># of terms to be measured</a:t>
                </a:r>
              </a:p>
              <a:p>
                <a:pPr>
                  <a:buChar char="-"/>
                </a:pPr>
                <a:endParaRPr lang="en-US" dirty="0"/>
              </a:p>
              <a:p>
                <a:pPr marL="584200" lvl="1" indent="0">
                  <a:buNone/>
                </a:pPr>
                <a:r>
                  <a:rPr lang="en-US" dirty="0"/>
                  <a:t>H4 molecule: 185(before optimization) </a:t>
                </a:r>
                <a:r>
                  <a:rPr lang="zh-CN" altLang="en-US" dirty="0"/>
                  <a:t>→ </a:t>
                </a:r>
                <a:r>
                  <a:rPr lang="en-US" altLang="zh-CN" dirty="0"/>
                  <a:t>72(after optimized by </a:t>
                </a:r>
                <a:r>
                  <a:rPr lang="en-US" altLang="zh-CN" b="1" dirty="0" err="1"/>
                  <a:t>meas_optimization</a:t>
                </a:r>
                <a:r>
                  <a:rPr lang="en-US" altLang="zh-CN" dirty="0"/>
                  <a:t>)</a:t>
                </a:r>
                <a:endParaRPr lang="en-US" dirty="0"/>
              </a:p>
            </p:txBody>
          </p:sp>
        </mc:Choice>
        <mc:Fallback>
          <p:sp>
            <p:nvSpPr>
              <p:cNvPr id="120" name="Google Shape;120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9449" y="1321200"/>
                <a:ext cx="8222821" cy="3018900"/>
              </a:xfrm>
              <a:prstGeom prst="rect">
                <a:avLst/>
              </a:prstGeom>
              <a:blipFill>
                <a:blip r:embed="rId3"/>
                <a:stretch>
                  <a:fillRect r="-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Measurement optimization: Weighted Sampling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Google Shape;120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3899" y="1181089"/>
                <a:ext cx="8303937" cy="232231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US" dirty="0"/>
                  <a:t>Sample noise: Finite statistics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US" dirty="0"/>
                  <a:t>Weighted Sampling: Allocate more shots to </a:t>
                </a:r>
                <a:r>
                  <a:rPr lang="en-US" dirty="0" err="1"/>
                  <a:t>pauli</a:t>
                </a:r>
                <a:r>
                  <a:rPr lang="en-US" dirty="0"/>
                  <a:t> terms with larger </a:t>
                </a:r>
                <a:r>
                  <a:rPr lang="en-US" dirty="0" err="1"/>
                  <a:t>coeffcient</a:t>
                </a:r>
                <a:r>
                  <a:rPr lang="en-US" dirty="0"/>
                  <a:t>.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r>
                  <a:rPr lang="en-US" dirty="0"/>
                  <a:t>Hamiltonian: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0">
                  <a:buChar char="-"/>
                </a:pPr>
                <a:r>
                  <a:rPr lang="en-US" dirty="0"/>
                  <a:t>Shots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endParaRPr lang="en-US" dirty="0"/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endParaRPr lang="en-US" dirty="0"/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endParaRPr lang="en-US" dirty="0"/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Char char="-"/>
                </a:pPr>
                <a:endParaRPr lang="en-US" dirty="0"/>
              </a:p>
            </p:txBody>
          </p:sp>
        </mc:Choice>
        <mc:Fallback>
          <p:sp>
            <p:nvSpPr>
              <p:cNvPr id="120" name="Google Shape;120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3899" y="1181089"/>
                <a:ext cx="8303937" cy="2322310"/>
              </a:xfrm>
              <a:prstGeom prst="rect">
                <a:avLst/>
              </a:prstGeom>
              <a:blipFill>
                <a:blip r:embed="rId3"/>
                <a:stretch>
                  <a:fillRect b="-3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583442-3CE6-E4ED-695B-45B508E1C6CB}"/>
                  </a:ext>
                </a:extLst>
              </p:cNvPr>
              <p:cNvSpPr txBox="1"/>
              <p:nvPr/>
            </p:nvSpPr>
            <p:spPr>
              <a:xfrm>
                <a:off x="2728153" y="3555897"/>
                <a:ext cx="46902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0" dirty="0"/>
                  <a:t>Example: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=0.5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+0.3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+0.2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583442-3CE6-E4ED-695B-45B508E1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3" y="3555897"/>
                <a:ext cx="4690286" cy="338554"/>
              </a:xfrm>
              <a:prstGeom prst="rect">
                <a:avLst/>
              </a:prstGeom>
              <a:blipFill>
                <a:blip r:embed="rId4"/>
                <a:stretch>
                  <a:fillRect l="-780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2AD873-E0B8-C6B4-ECE6-8D4F9553A5E8}"/>
                  </a:ext>
                </a:extLst>
              </p:cNvPr>
              <p:cNvSpPr txBox="1"/>
              <p:nvPr/>
            </p:nvSpPr>
            <p:spPr>
              <a:xfrm>
                <a:off x="1600200" y="3841953"/>
                <a:ext cx="71013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 best way to minimize sample variation: 50% shots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30%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20%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  <a:endParaRPr lang="zh-CN" altLang="en-US" sz="1600" dirty="0">
                  <a:latin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2AD873-E0B8-C6B4-ECE6-8D4F9553A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841953"/>
                <a:ext cx="7101348" cy="584775"/>
              </a:xfrm>
              <a:prstGeom prst="rect">
                <a:avLst/>
              </a:prstGeom>
              <a:blipFill>
                <a:blip r:embed="rId5"/>
                <a:stretch>
                  <a:fillRect l="-515" t="-31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85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Optimizer - noiseless		</a:t>
            </a:r>
            <a:endParaRPr dirty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L-BFGS-B: Limited-memory </a:t>
            </a:r>
            <a:r>
              <a:rPr lang="en-US" altLang="zh-CN" dirty="0" err="1"/>
              <a:t>Broyden</a:t>
            </a:r>
            <a:r>
              <a:rPr lang="en-US" altLang="zh-CN" dirty="0"/>
              <a:t>–Fletcher–Goldfarb–</a:t>
            </a:r>
            <a:r>
              <a:rPr lang="en-US" altLang="zh-CN" dirty="0" err="1"/>
              <a:t>Shanno</a:t>
            </a:r>
            <a:r>
              <a:rPr lang="en-US" altLang="zh-CN" dirty="0"/>
              <a:t> Bound algorithm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Overperform COBYLA and Powell.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35709-4FFA-28D0-6DDD-8D6875BE2A6F}"/>
              </a:ext>
            </a:extLst>
          </p:cNvPr>
          <p:cNvSpPr txBox="1"/>
          <p:nvPr/>
        </p:nvSpPr>
        <p:spPr>
          <a:xfrm>
            <a:off x="4269658" y="4782901"/>
            <a:ext cx="5383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https://iopscience.iop.org/article/10.1088/2058-9565/aad3e4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03698-C2E2-172B-4B35-399C7C40A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7" y="2423156"/>
            <a:ext cx="5643352" cy="2359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Noise-resistant optimizer		</a:t>
            </a:r>
            <a:endParaRPr dirty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729450" y="1321200"/>
            <a:ext cx="7688700" cy="26313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we need to be more frugal</a:t>
            </a:r>
            <a:r>
              <a:rPr lang="en-US" dirty="0"/>
              <a:t>:</a:t>
            </a: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Simultaneous perturbation stochastic approximation(SPSA)*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- </a:t>
            </a:r>
            <a:r>
              <a:rPr lang="en-US" dirty="0"/>
              <a:t>Random Operator Sampling for Adaptive Learning with Individual Number of shots(</a:t>
            </a:r>
            <a:r>
              <a:rPr lang="en-US" dirty="0" err="1"/>
              <a:t>Rosalin</a:t>
            </a:r>
            <a:r>
              <a:rPr lang="en-US" dirty="0"/>
              <a:t>)**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51B65-1BD3-531E-D3D0-22B668C642E7}"/>
              </a:ext>
            </a:extLst>
          </p:cNvPr>
          <p:cNvSpPr txBox="1"/>
          <p:nvPr/>
        </p:nvSpPr>
        <p:spPr>
          <a:xfrm>
            <a:off x="6290188" y="4819227"/>
            <a:ext cx="3163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**</a:t>
            </a:r>
            <a:r>
              <a:rPr lang="zh-CN" altLang="en-US" dirty="0"/>
              <a:t>https://arxiv.org/abs/2004.06252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9C640-E246-7FA4-3DF8-67E69971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153" y="1001258"/>
            <a:ext cx="3713751" cy="639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9C566-2220-D787-7F58-CA9AB84F74BB}"/>
              </a:ext>
            </a:extLst>
          </p:cNvPr>
          <p:cNvSpPr txBox="1"/>
          <p:nvPr/>
        </p:nvSpPr>
        <p:spPr>
          <a:xfrm>
            <a:off x="3913853" y="4571575"/>
            <a:ext cx="6078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https://noisyopt.readthedocs.io/en/latest/api.html#minimizespsa</a:t>
            </a:r>
          </a:p>
        </p:txBody>
      </p:sp>
    </p:spTree>
    <p:extLst>
      <p:ext uri="{BB962C8B-B14F-4D97-AF65-F5344CB8AC3E}">
        <p14:creationId xmlns:p14="http://schemas.microsoft.com/office/powerpoint/2010/main" val="4019495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D24F-4047-A50A-7A7E-D23013D0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Parameter initialization	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A257F-5158-B62A-D17A-F7E4B9FF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MP2 theory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7028B-39F0-0FA7-984B-D87B62995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700" y="2080900"/>
            <a:ext cx="3827514" cy="1216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128574-D59F-922D-8213-405C690546F5}"/>
              </a:ext>
            </a:extLst>
          </p:cNvPr>
          <p:cNvSpPr txBox="1"/>
          <p:nvPr/>
        </p:nvSpPr>
        <p:spPr>
          <a:xfrm>
            <a:off x="4284406" y="4819581"/>
            <a:ext cx="5383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https://iopscience.iop.org/article/10.1088/2058-9565/aad3e4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F96661-4B6E-6E91-D207-FD70E111773B}"/>
                  </a:ext>
                </a:extLst>
              </p:cNvPr>
              <p:cNvSpPr txBox="1"/>
              <p:nvPr/>
            </p:nvSpPr>
            <p:spPr>
              <a:xfrm>
                <a:off x="1408471" y="3671924"/>
                <a:ext cx="5080819" cy="540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𝑖𝑗𝑏𝑎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two-electron integral for orbital </a:t>
                </a:r>
                <a:r>
                  <a:rPr lang="en-US" altLang="zh-CN" dirty="0" err="1"/>
                  <a:t>i,j,b,a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HF energy for orbital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F96661-4B6E-6E91-D207-FD70E1117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471" y="3671924"/>
                <a:ext cx="5080819" cy="540533"/>
              </a:xfrm>
              <a:prstGeom prst="rect">
                <a:avLst/>
              </a:prstGeom>
              <a:blipFill>
                <a:blip r:embed="rId3"/>
                <a:stretch>
                  <a:fillRect t="-1124" b="-1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67B1291-B80E-D282-3917-6456E3064AA9}"/>
              </a:ext>
            </a:extLst>
          </p:cNvPr>
          <p:cNvSpPr txBox="1"/>
          <p:nvPr/>
        </p:nvSpPr>
        <p:spPr>
          <a:xfrm>
            <a:off x="2226700" y="2080900"/>
            <a:ext cx="181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SingleExcitation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F3769-62D1-AE30-7121-A925EDE440D2}"/>
              </a:ext>
            </a:extLst>
          </p:cNvPr>
          <p:cNvSpPr txBox="1"/>
          <p:nvPr/>
        </p:nvSpPr>
        <p:spPr>
          <a:xfrm>
            <a:off x="3948880" y="2072622"/>
            <a:ext cx="181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DoubleExcitation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2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D24F-4047-A50A-7A7E-D23013D0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Other try	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A257F-5158-B62A-D17A-F7E4B9FF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Identity Block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28574-D59F-922D-8213-405C690546F5}"/>
              </a:ext>
            </a:extLst>
          </p:cNvPr>
          <p:cNvSpPr txBox="1"/>
          <p:nvPr/>
        </p:nvSpPr>
        <p:spPr>
          <a:xfrm>
            <a:off x="4284406" y="4819581"/>
            <a:ext cx="5117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https://quantum-journal.org/papers/q-2019-12-09-214/pdf/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F32CF-7FCB-B3C7-1507-0AF3BFE1D660}"/>
                  </a:ext>
                </a:extLst>
              </p:cNvPr>
              <p:cNvSpPr txBox="1"/>
              <p:nvPr/>
            </p:nvSpPr>
            <p:spPr>
              <a:xfrm>
                <a:off x="1408577" y="1822194"/>
                <a:ext cx="64450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Choose parameter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dirty="0"/>
                  <a:t>, such that the whole starting ansatz is identity operation.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F32CF-7FCB-B3C7-1507-0AF3BFE1D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77" y="1822194"/>
                <a:ext cx="6445045" cy="307777"/>
              </a:xfrm>
              <a:prstGeom prst="rect">
                <a:avLst/>
              </a:prstGeom>
              <a:blipFill>
                <a:blip r:embed="rId2"/>
                <a:stretch>
                  <a:fillRect l="-284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521B5D5-BFE2-D381-42A7-07B433D2D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08" y="2382975"/>
            <a:ext cx="78105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16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A1FC-5755-4C3A-76BE-63F954C4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Using Symmetry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70F02-CFDD-6D8D-D98F-EB18E7DF5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Qubit tapering(https://arxiv.org/abs/1701.08213)</a:t>
            </a:r>
          </a:p>
          <a:p>
            <a:r>
              <a:rPr lang="en-US" altLang="zh-CN" dirty="0"/>
              <a:t>Bipartite system(PRX QUANTUM 3, 010309 (2022))</a:t>
            </a:r>
          </a:p>
          <a:p>
            <a:endParaRPr lang="en-US" altLang="zh-CN" dirty="0"/>
          </a:p>
          <a:p>
            <a:pPr marL="114300" indent="0">
              <a:buNone/>
            </a:pPr>
            <a:r>
              <a:rPr lang="en-US" altLang="zh-CN" dirty="0"/>
              <a:t>Core idea: smaller system size with more terms to evaluate.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303B2-87CF-167F-D3F2-65F1AA87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33" y="4112206"/>
            <a:ext cx="3653606" cy="8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17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Error mitigation proposal</a:t>
            </a:r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729450" y="1322372"/>
            <a:ext cx="76887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dirty="0"/>
              <a:t>Mitigation with noise-estimation circuit</a:t>
            </a:r>
            <a:r>
              <a:rPr lang="en-US" dirty="0"/>
              <a:t>(PRL 127, 270502 (2021))</a:t>
            </a:r>
            <a:endParaRPr lang="en-GB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en-GB" dirty="0"/>
              <a:t>Quantum devices suffer from depolarizing noise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en-GB" dirty="0"/>
              <a:t>Two-qubit gates are the main source of depolarizing error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en-GB" dirty="0"/>
              <a:t>The original paper is designed for quantum simulation, but the idea should also work for VQE.</a:t>
            </a:r>
            <a:endParaRPr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5BF6A7-3A8B-379E-247C-2D6563F606C4}"/>
              </a:ext>
            </a:extLst>
          </p:cNvPr>
          <p:cNvGrpSpPr/>
          <p:nvPr/>
        </p:nvGrpSpPr>
        <p:grpSpPr>
          <a:xfrm>
            <a:off x="566747" y="3453250"/>
            <a:ext cx="2551157" cy="1538673"/>
            <a:chOff x="1953095" y="3303639"/>
            <a:chExt cx="2551157" cy="153867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CF4314E-DFEA-A1A7-F25C-BFCEE1DBD1B2}"/>
                </a:ext>
              </a:extLst>
            </p:cNvPr>
            <p:cNvSpPr/>
            <p:nvPr/>
          </p:nvSpPr>
          <p:spPr>
            <a:xfrm>
              <a:off x="2131142" y="3303639"/>
              <a:ext cx="916883" cy="118724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Ansatz</a:t>
              </a:r>
              <a:endParaRPr lang="zh-CN" alt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274B875-E539-60CE-0B83-945275572DBC}"/>
                </a:ext>
              </a:extLst>
            </p:cNvPr>
            <p:cNvCxnSpPr>
              <a:stCxn id="3" idx="3"/>
            </p:cNvCxnSpPr>
            <p:nvPr/>
          </p:nvCxnSpPr>
          <p:spPr>
            <a:xfrm>
              <a:off x="3048025" y="3897262"/>
              <a:ext cx="344104" cy="3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C878404-C0A5-417E-3F70-0746D012F166}"/>
                </a:ext>
              </a:extLst>
            </p:cNvPr>
            <p:cNvSpPr/>
            <p:nvPr/>
          </p:nvSpPr>
          <p:spPr>
            <a:xfrm>
              <a:off x="3392129" y="3453250"/>
              <a:ext cx="1002890" cy="888022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optimizer</a:t>
              </a:r>
              <a:endParaRPr lang="zh-CN" alt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BDEF29-355B-E907-CEB5-7B963D4B5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4212" y="4700201"/>
              <a:ext cx="385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6305C44-D713-DF3C-C9A5-FB8764E42F65}"/>
                    </a:ext>
                  </a:extLst>
                </p:cNvPr>
                <p:cNvSpPr txBox="1"/>
                <p:nvPr/>
              </p:nvSpPr>
              <p:spPr>
                <a:xfrm>
                  <a:off x="1953095" y="4589231"/>
                  <a:ext cx="127297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)⟩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6305C44-D713-DF3C-C9A5-FB8764E42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095" y="4589231"/>
                  <a:ext cx="1272976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2871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C3831C-54D5-F0EF-D873-AB32644071BA}"/>
                </a:ext>
              </a:extLst>
            </p:cNvPr>
            <p:cNvSpPr txBox="1"/>
            <p:nvPr/>
          </p:nvSpPr>
          <p:spPr>
            <a:xfrm>
              <a:off x="3451122" y="4534535"/>
              <a:ext cx="10531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Optimize θ</a:t>
              </a:r>
              <a:endParaRPr lang="zh-CN" alt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DE40D7-7F89-C65C-9604-2C35D88FDE18}"/>
              </a:ext>
            </a:extLst>
          </p:cNvPr>
          <p:cNvGrpSpPr/>
          <p:nvPr/>
        </p:nvGrpSpPr>
        <p:grpSpPr>
          <a:xfrm>
            <a:off x="4839535" y="3299915"/>
            <a:ext cx="3606051" cy="1854426"/>
            <a:chOff x="4839535" y="3299915"/>
            <a:chExt cx="3606051" cy="18544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FFACD6C-2012-943F-AC8A-467FF70B1513}"/>
                </a:ext>
              </a:extLst>
            </p:cNvPr>
            <p:cNvSpPr/>
            <p:nvPr/>
          </p:nvSpPr>
          <p:spPr>
            <a:xfrm>
              <a:off x="5003899" y="3299915"/>
              <a:ext cx="916883" cy="118724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Ansatz</a:t>
              </a:r>
              <a:endParaRPr lang="zh-CN" alt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0FB76AF-FE47-65DD-B32C-1B3F9E79A22E}"/>
                </a:ext>
              </a:extLst>
            </p:cNvPr>
            <p:cNvCxnSpPr>
              <a:cxnSpLocks/>
            </p:cNvCxnSpPr>
            <p:nvPr/>
          </p:nvCxnSpPr>
          <p:spPr>
            <a:xfrm>
              <a:off x="7071156" y="3952806"/>
              <a:ext cx="344104" cy="3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3ADED28-A8EC-A4F5-141C-B6520B87EE10}"/>
                </a:ext>
              </a:extLst>
            </p:cNvPr>
            <p:cNvSpPr/>
            <p:nvPr/>
          </p:nvSpPr>
          <p:spPr>
            <a:xfrm>
              <a:off x="7442696" y="3453250"/>
              <a:ext cx="1002890" cy="888022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optimizer</a:t>
              </a:r>
              <a:endParaRPr lang="zh-CN" alt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1271D9B-16F1-2BEE-4847-AE0C8BAB5F4B}"/>
                </a:ext>
              </a:extLst>
            </p:cNvPr>
            <p:cNvSpPr/>
            <p:nvPr/>
          </p:nvSpPr>
          <p:spPr>
            <a:xfrm>
              <a:off x="6304240" y="3301777"/>
              <a:ext cx="916883" cy="118724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Ansatz (only two-qubit gate)</a:t>
              </a:r>
              <a:endParaRPr lang="zh-CN" altLang="en-US" sz="1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55931B-599F-8623-B612-F313394D28F8}"/>
                    </a:ext>
                  </a:extLst>
                </p:cNvPr>
                <p:cNvSpPr txBox="1"/>
                <p:nvPr/>
              </p:nvSpPr>
              <p:spPr>
                <a:xfrm>
                  <a:off x="4839535" y="4640495"/>
                  <a:ext cx="1604670" cy="2324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𝑛𝑜𝑖𝑠𝑦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55931B-599F-8623-B612-F313394D2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9535" y="4640495"/>
                  <a:ext cx="1604670" cy="232436"/>
                </a:xfrm>
                <a:prstGeom prst="rect">
                  <a:avLst/>
                </a:prstGeom>
                <a:blipFill>
                  <a:blip r:embed="rId4"/>
                  <a:stretch>
                    <a:fillRect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FAFBED2-9A69-B5EA-FAC5-57B79B6653FF}"/>
                    </a:ext>
                  </a:extLst>
                </p:cNvPr>
                <p:cNvSpPr txBox="1"/>
                <p:nvPr/>
              </p:nvSpPr>
              <p:spPr>
                <a:xfrm>
                  <a:off x="6444205" y="4646287"/>
                  <a:ext cx="76936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/>
                    <a:t>Noise: </a:t>
                  </a:r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zh-CN" altLang="en-US" sz="1100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FAFBED2-9A69-B5EA-FAC5-57B79B665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5" y="4646287"/>
                  <a:ext cx="76936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C9745D0-AF77-DEE8-03D2-9C9C90655310}"/>
                    </a:ext>
                  </a:extLst>
                </p:cNvPr>
                <p:cNvSpPr txBox="1"/>
                <p:nvPr/>
              </p:nvSpPr>
              <p:spPr>
                <a:xfrm>
                  <a:off x="5780620" y="4916682"/>
                  <a:ext cx="106356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𝑚𝑖𝑡𝑖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C9745D0-AF77-DEE8-03D2-9C9C90655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620" y="4916682"/>
                  <a:ext cx="1063560" cy="215444"/>
                </a:xfrm>
                <a:prstGeom prst="rect">
                  <a:avLst/>
                </a:prstGeom>
                <a:blipFill>
                  <a:blip r:embed="rId6"/>
                  <a:stretch>
                    <a:fillRect b="-2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546EB1E-4DD8-095E-CA64-7A65C679CD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8204" y="5024404"/>
              <a:ext cx="385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E447EB-B345-8E7E-89A1-9C0BE74DF711}"/>
                </a:ext>
              </a:extLst>
            </p:cNvPr>
            <p:cNvSpPr txBox="1"/>
            <p:nvPr/>
          </p:nvSpPr>
          <p:spPr>
            <a:xfrm>
              <a:off x="7322858" y="4846564"/>
              <a:ext cx="10531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Optimize θ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2558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A045-A7DA-2334-7912-402F7967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71745-039A-475D-5C8A-935E0E76C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don’t implement all the ideas mentioned here. However, by UCCSD ansatz, weighted-sampling and measurement optimization, we reached quasi-chemical accuracy(~4mH).</a:t>
            </a:r>
          </a:p>
          <a:p>
            <a:r>
              <a:rPr lang="en-US" altLang="zh-CN" dirty="0"/>
              <a:t>If shot limit is 3~4 times larger, chemical accuracy can be reached(already tested).</a:t>
            </a:r>
          </a:p>
          <a:p>
            <a:pPr marL="114300" indent="0">
              <a:buNone/>
            </a:pPr>
            <a:endParaRPr lang="en-US" altLang="zh-CN" dirty="0"/>
          </a:p>
          <a:p>
            <a:r>
              <a:rPr lang="en-US" altLang="zh-CN" dirty="0"/>
              <a:t>Error mitigation </a:t>
            </a:r>
            <a:r>
              <a:rPr lang="en-US" altLang="zh-CN" dirty="0" err="1"/>
              <a:t>approachs</a:t>
            </a:r>
            <a:r>
              <a:rPr lang="en-US" altLang="zh-CN" dirty="0"/>
              <a:t> have not been implemented in code yet.  But they can be easily packaged given the access to real noisy device.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7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7E3A82-CD40-CBE0-36D9-17BEA90DECA6}"/>
              </a:ext>
            </a:extLst>
          </p:cNvPr>
          <p:cNvSpPr txBox="1"/>
          <p:nvPr/>
        </p:nvSpPr>
        <p:spPr>
          <a:xfrm>
            <a:off x="2695267" y="2248584"/>
            <a:ext cx="474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I learned a lot during this Challenge.</a:t>
            </a:r>
          </a:p>
          <a:p>
            <a:r>
              <a:rPr lang="en-US" altLang="zh-CN" sz="1800" dirty="0"/>
              <a:t>Many thanks for your attention!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64975562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1039</Words>
  <Application>Microsoft Office PowerPoint</Application>
  <PresentationFormat>On-screen Show (16:9)</PresentationFormat>
  <Paragraphs>131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Raleway</vt:lpstr>
      <vt:lpstr>Lato</vt:lpstr>
      <vt:lpstr>Streamline</vt:lpstr>
      <vt:lpstr>Improving VQE accuracy for H4 molecule with shot limits</vt:lpstr>
      <vt:lpstr>Ansatz</vt:lpstr>
      <vt:lpstr>UCCSD Ansatz</vt:lpstr>
      <vt:lpstr>Single Excitation circuit</vt:lpstr>
      <vt:lpstr>Double Excitation circuit</vt:lpstr>
      <vt:lpstr>Orbitals for H4</vt:lpstr>
      <vt:lpstr>Other Try </vt:lpstr>
      <vt:lpstr>Measurement optimization: Operator Grouping</vt:lpstr>
      <vt:lpstr>Measurement optimization: Weighted Sampling</vt:lpstr>
      <vt:lpstr>Optimizer - noiseless  </vt:lpstr>
      <vt:lpstr>Noise-resistant optimizer  </vt:lpstr>
      <vt:lpstr>Parameter initialization </vt:lpstr>
      <vt:lpstr>Other try </vt:lpstr>
      <vt:lpstr>Using Symmetry</vt:lpstr>
      <vt:lpstr>Error mitigation proposal</vt:lpstr>
      <vt:lpstr>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 VQE accuracy for H4 molecule with shot limits</dc:title>
  <cp:lastModifiedBy>Yunzhe Zheng</cp:lastModifiedBy>
  <cp:revision>8</cp:revision>
  <dcterms:modified xsi:type="dcterms:W3CDTF">2022-05-22T13:09:29Z</dcterms:modified>
</cp:coreProperties>
</file>